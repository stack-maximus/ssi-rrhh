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SI-RRHH-SST" id="{9916aa22-627e-24ad-9f91-ce068cf670a6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Plazos comprometidos del sistema SSI-RRHH-SST. RRHH: 3 días hábiles desde la aprobación para cerrar su parte. Reclutamiento: 6 días hábiles extra por tanda para enviar candidatos, se renueva con cada rechazo total. Prevención: 9 días hábiles de homologación SST, más 3 por cada rechazo. Fechas: traslado y cambio de cargo desde hoy + 3 días hábiles; ingreso y aumento de sueldo dentro del periodo vigente con corte el día 24 (si no alcanza, del 1 al 24 del mes siguiente). Aprobaciones: al día, atrasada o crítica según la espera; recordatorio máximo cada 4 horas. Contratos: aviso de vencimiento a 30 y 15 días.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Flujo completo: 1) el solicitante crea la solicitud (7 tipos) en el formulario; 2) aprueban en orden: ingreso = administrador de obra del centro y Gerente de Operaciones; traslado = administrador de obra de origen, de destino y Gerente de Operaciones; el resto = administrador de obra del centro del trabajador. Si uno rechaza, la solicitud queda rechazada. Al aprobarse, sale el comprobante PDF por correo a RRHH, solicitante y aprobadores. 3) RRHH procesa en máximo 3 días hábiles: ingreso por contratación (recomendación o reclutamiento con candidatos en máximo 6 días hábiles extra), traslado subiendo 3 documentos y el resto marcando como procesado. 4) Prevención homologa ingreso y traslado en máximo 9 días hábiles, más 3 por rechazo. 5) Cierre: ingreso a obra autorizado o solicitud procesada, con correo al solicitante.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Metalium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ive/public/Metalium_Logo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384048"/>
            <a:ext cx="1783080" cy="37216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1908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Metalium SpA · Solicitud de Servicio Interno Recursos Humanos - Homologación (SSI-RRHH-SST)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292608"/>
            <a:ext cx="905256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932688"/>
            <a:ext cx="9052560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A5A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A5A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Plazos y fechas comprometidos</a:t>
            </a:r>
            <a:endParaRPr lang="en-US" sz="32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32688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Todo se cuenta en días hábiles: lunes a viernes, sin feriados nacionales de Chile</a:t>
            </a:r>
            <a:endParaRPr lang="en-US" sz="1400" dirty="0"/>
          </a:p>
        </p:txBody>
      </p:sp>
      <p:sp>
        <p:nvSpPr>
          <p:cNvPr id="4" name="Plazo 3 días"/>
          <p:cNvSpPr/>
          <p:nvPr/>
        </p:nvSpPr>
        <p:spPr>
          <a:xfrm>
            <a:off x="548640" y="1481328"/>
            <a:ext cx="3520440" cy="1938528"/>
          </a:xfrm>
          <a:prstGeom prst="roundRect">
            <a:avLst>
              <a:gd name="adj" fmla="val 3774"/>
            </a:avLst>
          </a:prstGeom>
          <a:solidFill>
            <a:schemeClr val="bg1"/>
          </a:solidFill>
          <a:ln w="9525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5" name="Ícono plazo 3 fondo"/>
          <p:cNvSpPr/>
          <p:nvPr/>
        </p:nvSpPr>
        <p:spPr>
          <a:xfrm>
            <a:off x="804672" y="1755648"/>
            <a:ext cx="566928" cy="566928"/>
          </a:xfrm>
          <a:prstGeom prst="ellipse">
            <a:avLst/>
          </a:prstGeom>
          <a:solidFill>
            <a:srgbClr val="F1F6FA"/>
          </a:solidFill>
          <a:ln/>
        </p:spPr>
      </p:sp>
      <p:pic>
        <p:nvPicPr>
          <p:cNvPr id="6" name="Ícono plazo 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735" y="1891711"/>
            <a:ext cx="294803" cy="294803"/>
          </a:xfrm>
          <a:prstGeom prst="rect">
            <a:avLst/>
          </a:prstGeom>
        </p:spPr>
      </p:pic>
      <p:sp>
        <p:nvSpPr>
          <p:cNvPr id="7" name="Cifra 3"/>
          <p:cNvSpPr txBox="1"/>
          <p:nvPr/>
        </p:nvSpPr>
        <p:spPr>
          <a:xfrm>
            <a:off x="1508760" y="1664208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3</a:t>
            </a:r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  días hábiles</a:t>
            </a:r>
            <a:endParaRPr lang="en-US" sz="4400" dirty="0"/>
          </a:p>
        </p:txBody>
      </p:sp>
      <p:sp>
        <p:nvSpPr>
          <p:cNvPr id="8" name="Título plazo 3"/>
          <p:cNvSpPr txBox="1"/>
          <p:nvPr/>
        </p:nvSpPr>
        <p:spPr>
          <a:xfrm>
            <a:off x="804672" y="243230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RRHH procesa la solicitud</a:t>
            </a:r>
            <a:endParaRPr lang="en-US" sz="1500" dirty="0"/>
          </a:p>
        </p:txBody>
      </p:sp>
      <p:sp>
        <p:nvSpPr>
          <p:cNvPr id="9" name="Detalle plazo 3"/>
          <p:cNvSpPr txBox="1"/>
          <p:nvPr/>
        </p:nvSpPr>
        <p:spPr>
          <a:xfrm>
            <a:off x="804672" y="2724912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Desde que queda aprobada hasta que RRHH cierra: contrato subido (ingreso), 3 documentos (traslado) o «procesado» (resto).</a:t>
            </a:r>
            <a:endParaRPr lang="en-US" sz="1100" dirty="0"/>
          </a:p>
        </p:txBody>
      </p:sp>
      <p:sp>
        <p:nvSpPr>
          <p:cNvPr id="10" name="Plazo 6 días"/>
          <p:cNvSpPr/>
          <p:nvPr/>
        </p:nvSpPr>
        <p:spPr>
          <a:xfrm>
            <a:off x="4334256" y="1481328"/>
            <a:ext cx="3520440" cy="1938528"/>
          </a:xfrm>
          <a:prstGeom prst="roundRect">
            <a:avLst>
              <a:gd name="adj" fmla="val 3774"/>
            </a:avLst>
          </a:prstGeom>
          <a:solidFill>
            <a:schemeClr val="bg1"/>
          </a:solidFill>
          <a:ln w="9525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11" name="Ícono plazo 6 fondo"/>
          <p:cNvSpPr/>
          <p:nvPr/>
        </p:nvSpPr>
        <p:spPr>
          <a:xfrm>
            <a:off x="4590288" y="1755648"/>
            <a:ext cx="566928" cy="566928"/>
          </a:xfrm>
          <a:prstGeom prst="ellipse">
            <a:avLst/>
          </a:prstGeom>
          <a:solidFill>
            <a:srgbClr val="F1F6FA"/>
          </a:solidFill>
          <a:ln/>
        </p:spPr>
      </p:sp>
      <p:pic>
        <p:nvPicPr>
          <p:cNvPr id="12" name="Ícono plazo 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351" y="1891711"/>
            <a:ext cx="294803" cy="294803"/>
          </a:xfrm>
          <a:prstGeom prst="rect">
            <a:avLst/>
          </a:prstGeom>
        </p:spPr>
      </p:pic>
      <p:sp>
        <p:nvSpPr>
          <p:cNvPr id="13" name="Cifra 6"/>
          <p:cNvSpPr txBox="1"/>
          <p:nvPr/>
        </p:nvSpPr>
        <p:spPr>
          <a:xfrm>
            <a:off x="5294376" y="1664208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6</a:t>
            </a:r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  días hábiles</a:t>
            </a:r>
            <a:endParaRPr lang="en-US" sz="4400" dirty="0"/>
          </a:p>
        </p:txBody>
      </p:sp>
      <p:sp>
        <p:nvSpPr>
          <p:cNvPr id="14" name="Título plazo 6"/>
          <p:cNvSpPr txBox="1"/>
          <p:nvPr/>
        </p:nvSpPr>
        <p:spPr>
          <a:xfrm>
            <a:off x="4590288" y="243230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Reclutamiento (extra)</a:t>
            </a:r>
            <a:endParaRPr lang="en-US" sz="1500" dirty="0"/>
          </a:p>
        </p:txBody>
      </p:sp>
      <p:sp>
        <p:nvSpPr>
          <p:cNvPr id="15" name="Detalle plazo 6"/>
          <p:cNvSpPr txBox="1"/>
          <p:nvPr/>
        </p:nvSpPr>
        <p:spPr>
          <a:xfrm>
            <a:off x="4590288" y="2724912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Se suman a los 3 de contratación si hay que buscar candidatos. Se renueva cada vez que se rechazan todos.</a:t>
            </a:r>
            <a:endParaRPr lang="en-US" sz="1100" dirty="0"/>
          </a:p>
        </p:txBody>
      </p:sp>
      <p:sp>
        <p:nvSpPr>
          <p:cNvPr id="16" name="Plazo 9 días"/>
          <p:cNvSpPr/>
          <p:nvPr/>
        </p:nvSpPr>
        <p:spPr>
          <a:xfrm>
            <a:off x="8119872" y="1481328"/>
            <a:ext cx="3520440" cy="1938528"/>
          </a:xfrm>
          <a:prstGeom prst="roundRect">
            <a:avLst>
              <a:gd name="adj" fmla="val 3774"/>
            </a:avLst>
          </a:prstGeom>
          <a:solidFill>
            <a:schemeClr val="bg1"/>
          </a:solidFill>
          <a:ln w="9525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17" name="Ícono plazo 9 fondo"/>
          <p:cNvSpPr/>
          <p:nvPr/>
        </p:nvSpPr>
        <p:spPr>
          <a:xfrm>
            <a:off x="8375904" y="1755648"/>
            <a:ext cx="566928" cy="566928"/>
          </a:xfrm>
          <a:prstGeom prst="ellipse">
            <a:avLst/>
          </a:prstGeom>
          <a:solidFill>
            <a:srgbClr val="F1F6FA"/>
          </a:solidFill>
          <a:ln/>
        </p:spPr>
      </p:sp>
      <p:pic>
        <p:nvPicPr>
          <p:cNvPr id="18" name="Ícono plazo 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967" y="1891711"/>
            <a:ext cx="294803" cy="294803"/>
          </a:xfrm>
          <a:prstGeom prst="rect">
            <a:avLst/>
          </a:prstGeom>
        </p:spPr>
      </p:pic>
      <p:sp>
        <p:nvSpPr>
          <p:cNvPr id="19" name="Cifra 9"/>
          <p:cNvSpPr txBox="1"/>
          <p:nvPr/>
        </p:nvSpPr>
        <p:spPr>
          <a:xfrm>
            <a:off x="9079992" y="1664208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9</a:t>
            </a:r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  días hábiles</a:t>
            </a:r>
            <a:endParaRPr lang="en-US" sz="4400" dirty="0"/>
          </a:p>
        </p:txBody>
      </p:sp>
      <p:sp>
        <p:nvSpPr>
          <p:cNvPr id="20" name="Título plazo 9"/>
          <p:cNvSpPr txBox="1"/>
          <p:nvPr/>
        </p:nvSpPr>
        <p:spPr>
          <a:xfrm>
            <a:off x="8375904" y="243230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Prevención homologa (SST)</a:t>
            </a:r>
            <a:endParaRPr lang="en-US" sz="1500" dirty="0"/>
          </a:p>
        </p:txBody>
      </p:sp>
      <p:sp>
        <p:nvSpPr>
          <p:cNvPr id="21" name="Detalle plazo 9"/>
          <p:cNvSpPr txBox="1"/>
          <p:nvPr/>
        </p:nvSpPr>
        <p:spPr>
          <a:xfrm>
            <a:off x="8375904" y="2724912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Desde que RRHH deja los documentos hasta autorizar el ingreso a obra. +3 días hábiles por cada rechazo.</a:t>
            </a:r>
            <a:endParaRPr lang="en-US" sz="1100" dirty="0"/>
          </a:p>
        </p:txBody>
      </p:sp>
      <p:sp>
        <p:nvSpPr>
          <p:cNvPr id="22" name="Panel fechas"/>
          <p:cNvSpPr/>
          <p:nvPr/>
        </p:nvSpPr>
        <p:spPr>
          <a:xfrm>
            <a:off x="548640" y="3657600"/>
            <a:ext cx="6949440" cy="256032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9525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23" name="Ícono fechas fondo"/>
          <p:cNvSpPr/>
          <p:nvPr/>
        </p:nvSpPr>
        <p:spPr>
          <a:xfrm>
            <a:off x="804672" y="3877056"/>
            <a:ext cx="457200" cy="457200"/>
          </a:xfrm>
          <a:prstGeom prst="ellipse">
            <a:avLst/>
          </a:prstGeom>
          <a:solidFill>
            <a:srgbClr val="0050A2"/>
          </a:solidFill>
          <a:ln/>
        </p:spPr>
      </p:sp>
      <p:pic>
        <p:nvPicPr>
          <p:cNvPr id="24" name="Ícono fecha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986784"/>
            <a:ext cx="237744" cy="237744"/>
          </a:xfrm>
          <a:prstGeom prst="rect">
            <a:avLst/>
          </a:prstGeom>
        </p:spPr>
      </p:pic>
      <p:sp>
        <p:nvSpPr>
          <p:cNvPr id="25" name="Título fechas"/>
          <p:cNvSpPr txBox="1"/>
          <p:nvPr/>
        </p:nvSpPr>
        <p:spPr>
          <a:xfrm>
            <a:off x="1389888" y="387705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Fechas que se pueden pedir en el formulario</a:t>
            </a:r>
            <a:endParaRPr lang="en-US" sz="1600" dirty="0"/>
          </a:p>
        </p:txBody>
      </p:sp>
      <p:sp>
        <p:nvSpPr>
          <p:cNvPr id="26" name="Regla 3 días píldora"/>
          <p:cNvSpPr/>
          <p:nvPr/>
        </p:nvSpPr>
        <p:spPr>
          <a:xfrm>
            <a:off x="804672" y="4462272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F1F6FA"/>
          </a:solidFill>
          <a:ln/>
        </p:spPr>
      </p:sp>
      <p:sp>
        <p:nvSpPr>
          <p:cNvPr id="27" name="Regla 3 días etiqueta"/>
          <p:cNvSpPr txBox="1"/>
          <p:nvPr/>
        </p:nvSpPr>
        <p:spPr>
          <a:xfrm>
            <a:off x="804672" y="446227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0A2"/>
                </a:solidFill>
              </a:rPr>
              <a:t>Hoy + 3 días háb.</a:t>
            </a:r>
            <a:endParaRPr lang="en-US" sz="1200" dirty="0"/>
          </a:p>
        </p:txBody>
      </p:sp>
      <p:sp>
        <p:nvSpPr>
          <p:cNvPr id="28" name="Regla 3 días texto"/>
          <p:cNvSpPr txBox="1"/>
          <p:nvPr/>
        </p:nvSpPr>
        <p:spPr>
          <a:xfrm>
            <a:off x="2651760" y="4407408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Fecha mínima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 traslado y fecha efectiva de cambio de cargo. En desvinculación solo se avisa.</a:t>
            </a:r>
            <a:endParaRPr lang="en-US" sz="1200" dirty="0"/>
          </a:p>
        </p:txBody>
      </p:sp>
      <p:sp>
        <p:nvSpPr>
          <p:cNvPr id="29" name="Regla corte 24 píldora"/>
          <p:cNvSpPr/>
          <p:nvPr/>
        </p:nvSpPr>
        <p:spPr>
          <a:xfrm>
            <a:off x="804672" y="4992624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/>
        </p:spPr>
      </p:sp>
      <p:sp>
        <p:nvSpPr>
          <p:cNvPr id="30" name="Regla corte 24 etiqueta"/>
          <p:cNvSpPr txBox="1"/>
          <p:nvPr/>
        </p:nvSpPr>
        <p:spPr>
          <a:xfrm>
            <a:off x="804672" y="499262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1659"/>
                </a:solidFill>
              </a:rPr>
              <a:t>Corte día 24</a:t>
            </a:r>
            <a:endParaRPr lang="en-US" sz="1200" dirty="0"/>
          </a:p>
        </p:txBody>
      </p:sp>
      <p:sp>
        <p:nvSpPr>
          <p:cNvPr id="31" name="Regla corte 24 texto"/>
          <p:cNvSpPr txBox="1"/>
          <p:nvPr/>
        </p:nvSpPr>
        <p:spPr>
          <a:xfrm>
            <a:off x="2651760" y="4937760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Ingreso y Aumento de sueldo: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fecha obligatoria, solo en el periodo vigente (hasta el 24). Si no alcanza, pasa al mes siguiente, del 1 al 24.</a:t>
            </a:r>
            <a:endParaRPr lang="en-US" sz="1200" dirty="0"/>
          </a:p>
        </p:txBody>
      </p:sp>
      <p:sp>
        <p:nvSpPr>
          <p:cNvPr id="32" name="Mes días 1 a 24"/>
          <p:cNvSpPr/>
          <p:nvPr/>
        </p:nvSpPr>
        <p:spPr>
          <a:xfrm>
            <a:off x="2651760" y="5559552"/>
            <a:ext cx="3575009" cy="23774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3" name="Mes días 25 a fin"/>
          <p:cNvSpPr/>
          <p:nvPr/>
        </p:nvSpPr>
        <p:spPr>
          <a:xfrm>
            <a:off x="6226769" y="5559552"/>
            <a:ext cx="1042711" cy="237744"/>
          </a:xfrm>
          <a:prstGeom prst="rect">
            <a:avLst/>
          </a:prstGeom>
          <a:solidFill>
            <a:srgbClr val="B8C6D6"/>
          </a:solidFill>
          <a:ln/>
        </p:spPr>
      </p:sp>
      <p:sp>
        <p:nvSpPr>
          <p:cNvPr id="34" name="Rótulo periodo"/>
          <p:cNvSpPr txBox="1"/>
          <p:nvPr/>
        </p:nvSpPr>
        <p:spPr>
          <a:xfrm>
            <a:off x="2651760" y="5559552"/>
            <a:ext cx="357500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Periodo: día 1 al 24</a:t>
            </a:r>
            <a:endParaRPr lang="en-US" sz="1000" dirty="0"/>
          </a:p>
        </p:txBody>
      </p:sp>
      <p:sp>
        <p:nvSpPr>
          <p:cNvPr id="35" name="Rótulo cierre"/>
          <p:cNvSpPr txBox="1"/>
          <p:nvPr/>
        </p:nvSpPr>
        <p:spPr>
          <a:xfrm>
            <a:off x="6226769" y="5559552"/>
            <a:ext cx="10427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25 →</a:t>
            </a:r>
            <a:endParaRPr lang="en-US" sz="1000" dirty="0"/>
          </a:p>
        </p:txBody>
      </p:sp>
      <p:sp>
        <p:nvSpPr>
          <p:cNvPr id="36" name="Ejemplo periodo"/>
          <p:cNvSpPr txBox="1"/>
          <p:nvPr/>
        </p:nvSpPr>
        <p:spPr>
          <a:xfrm>
            <a:off x="2651760" y="5833872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Ej.: creada el 29-oct → del 3 al 24 de nov. · el 21-oct → del 1 al 24 de nov.</a:t>
            </a:r>
            <a:endParaRPr lang="en-US" sz="1000" dirty="0"/>
          </a:p>
        </p:txBody>
      </p:sp>
      <p:sp>
        <p:nvSpPr>
          <p:cNvPr id="37" name="Panel aprobaciones"/>
          <p:cNvSpPr/>
          <p:nvPr/>
        </p:nvSpPr>
        <p:spPr>
          <a:xfrm>
            <a:off x="7726680" y="3657600"/>
            <a:ext cx="3913632" cy="256032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9525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38" name="Ícono aprobaciones fondo"/>
          <p:cNvSpPr/>
          <p:nvPr/>
        </p:nvSpPr>
        <p:spPr>
          <a:xfrm>
            <a:off x="7982712" y="3877056"/>
            <a:ext cx="457200" cy="457200"/>
          </a:xfrm>
          <a:prstGeom prst="ellipse">
            <a:avLst/>
          </a:prstGeom>
          <a:solidFill>
            <a:srgbClr val="0050A2"/>
          </a:solidFill>
          <a:ln/>
        </p:spPr>
      </p:sp>
      <p:pic>
        <p:nvPicPr>
          <p:cNvPr id="39" name="Ícono aprobaciones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3986784"/>
            <a:ext cx="237744" cy="237744"/>
          </a:xfrm>
          <a:prstGeom prst="rect">
            <a:avLst/>
          </a:prstGeom>
        </p:spPr>
      </p:pic>
      <p:sp>
        <p:nvSpPr>
          <p:cNvPr id="40" name="Título aprobaciones"/>
          <p:cNvSpPr txBox="1"/>
          <p:nvPr/>
        </p:nvSpPr>
        <p:spPr>
          <a:xfrm>
            <a:off x="8567928" y="3877056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Espera de las aprobaciones</a:t>
            </a:r>
            <a:endParaRPr lang="en-US" sz="1600" dirty="0"/>
          </a:p>
        </p:txBody>
      </p:sp>
      <p:sp>
        <p:nvSpPr>
          <p:cNvPr id="41" name="Semáforo Al día"/>
          <p:cNvSpPr/>
          <p:nvPr/>
        </p:nvSpPr>
        <p:spPr>
          <a:xfrm>
            <a:off x="8019288" y="4517136"/>
            <a:ext cx="182880" cy="182880"/>
          </a:xfrm>
          <a:prstGeom prst="ellipse">
            <a:avLst/>
          </a:prstGeom>
          <a:solidFill>
            <a:srgbClr val="08B7F7"/>
          </a:solidFill>
          <a:ln/>
        </p:spPr>
      </p:sp>
      <p:sp>
        <p:nvSpPr>
          <p:cNvPr id="42" name="Nivel Al día"/>
          <p:cNvSpPr txBox="1"/>
          <p:nvPr/>
        </p:nvSpPr>
        <p:spPr>
          <a:xfrm>
            <a:off x="8330184" y="4425696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Al día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menos de 1 día hábil</a:t>
            </a:r>
            <a:endParaRPr lang="en-US" sz="1200" dirty="0"/>
          </a:p>
        </p:txBody>
      </p:sp>
      <p:sp>
        <p:nvSpPr>
          <p:cNvPr id="43" name="Semáforo Atrasada"/>
          <p:cNvSpPr/>
          <p:nvPr/>
        </p:nvSpPr>
        <p:spPr>
          <a:xfrm>
            <a:off x="8019288" y="4864608"/>
            <a:ext cx="182880" cy="1828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4" name="Nivel Atrasada"/>
          <p:cNvSpPr txBox="1"/>
          <p:nvPr/>
        </p:nvSpPr>
        <p:spPr>
          <a:xfrm>
            <a:off x="8330184" y="4773168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Atrasada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 a 2 días hábiles</a:t>
            </a:r>
            <a:endParaRPr lang="en-US" sz="1200" dirty="0"/>
          </a:p>
        </p:txBody>
      </p:sp>
      <p:sp>
        <p:nvSpPr>
          <p:cNvPr id="45" name="Semáforo Crítica"/>
          <p:cNvSpPr/>
          <p:nvPr/>
        </p:nvSpPr>
        <p:spPr>
          <a:xfrm>
            <a:off x="8019288" y="5212080"/>
            <a:ext cx="182880" cy="18288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46" name="Nivel Crítica"/>
          <p:cNvSpPr txBox="1"/>
          <p:nvPr/>
        </p:nvSpPr>
        <p:spPr>
          <a:xfrm>
            <a:off x="8330184" y="5120640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Crítica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 días hábiles o más</a:t>
            </a:r>
            <a:endParaRPr lang="en-US" sz="1200" dirty="0"/>
          </a:p>
        </p:txBody>
      </p:sp>
      <p:sp>
        <p:nvSpPr>
          <p:cNvPr id="47" name="Avisos"/>
          <p:cNvSpPr txBox="1"/>
          <p:nvPr/>
        </p:nvSpPr>
        <p:spPr>
          <a:xfrm>
            <a:off x="8019288" y="5486400"/>
            <a:ext cx="3410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6"/>
                </a:solidFill>
              </a:rPr>
              <a:t>Recordatorio por correo al aprobador: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máximo 1 cada 4 horas.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accent6"/>
                </a:solidFill>
              </a:rPr>
              <a:t>Contratos por vencer: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aviso a los 30 y 15 días.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A5A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Flujo completo de una solicitud</a:t>
            </a:r>
            <a:endParaRPr lang="en-US" sz="32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32688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De la solicitud al cierre · cada paso avisa por correo con un botón directo al sistema</a:t>
            </a:r>
            <a:endParaRPr lang="en-US" sz="1400" dirty="0"/>
          </a:p>
        </p:txBody>
      </p:sp>
      <p:sp>
        <p:nvSpPr>
          <p:cNvPr id="4" name="Paso 1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0050A2"/>
          </a:solidFill>
          <a:ln/>
        </p:spPr>
      </p:sp>
      <p:sp>
        <p:nvSpPr>
          <p:cNvPr id="5" name="Número paso 1"/>
          <p:cNvSpPr txBox="1"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ítulo paso 1"/>
          <p:cNvSpPr txBox="1"/>
          <p:nvPr/>
        </p:nvSpPr>
        <p:spPr>
          <a:xfrm>
            <a:off x="1097280" y="14630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Solicita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Solicitante</a:t>
            </a:r>
            <a:endParaRPr lang="en-US" sz="1400" dirty="0"/>
          </a:p>
        </p:txBody>
      </p:sp>
      <p:sp>
        <p:nvSpPr>
          <p:cNvPr id="7" name="Paso 2"/>
          <p:cNvSpPr/>
          <p:nvPr/>
        </p:nvSpPr>
        <p:spPr>
          <a:xfrm>
            <a:off x="2779776" y="1554480"/>
            <a:ext cx="457200" cy="457200"/>
          </a:xfrm>
          <a:prstGeom prst="ellipse">
            <a:avLst/>
          </a:prstGeom>
          <a:solidFill>
            <a:srgbClr val="0050A2"/>
          </a:solidFill>
          <a:ln/>
        </p:spPr>
      </p:sp>
      <p:sp>
        <p:nvSpPr>
          <p:cNvPr id="8" name="Número paso 2"/>
          <p:cNvSpPr txBox="1"/>
          <p:nvPr/>
        </p:nvSpPr>
        <p:spPr>
          <a:xfrm>
            <a:off x="277977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ítulo paso 2"/>
          <p:cNvSpPr txBox="1"/>
          <p:nvPr/>
        </p:nvSpPr>
        <p:spPr>
          <a:xfrm>
            <a:off x="3328416" y="14630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Aprueban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En orden, uno a uno</a:t>
            </a:r>
            <a:endParaRPr lang="en-US" sz="1400" dirty="0"/>
          </a:p>
        </p:txBody>
      </p:sp>
      <p:sp>
        <p:nvSpPr>
          <p:cNvPr id="10" name="Paso 3"/>
          <p:cNvSpPr/>
          <p:nvPr/>
        </p:nvSpPr>
        <p:spPr>
          <a:xfrm>
            <a:off x="5148072" y="1554480"/>
            <a:ext cx="457200" cy="457200"/>
          </a:xfrm>
          <a:prstGeom prst="ellipse">
            <a:avLst/>
          </a:prstGeom>
          <a:solidFill>
            <a:srgbClr val="0050A2"/>
          </a:solidFill>
          <a:ln/>
        </p:spPr>
      </p:sp>
      <p:sp>
        <p:nvSpPr>
          <p:cNvPr id="11" name="Número paso 3"/>
          <p:cNvSpPr txBox="1"/>
          <p:nvPr/>
        </p:nvSpPr>
        <p:spPr>
          <a:xfrm>
            <a:off x="514807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ítulo paso 3"/>
          <p:cNvSpPr txBox="1"/>
          <p:nvPr/>
        </p:nvSpPr>
        <p:spPr>
          <a:xfrm>
            <a:off x="5696712" y="14630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RRHH procesa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Máx. 3 días hábiles</a:t>
            </a:r>
            <a:endParaRPr lang="en-US" sz="1400" dirty="0"/>
          </a:p>
        </p:txBody>
      </p:sp>
      <p:sp>
        <p:nvSpPr>
          <p:cNvPr id="13" name="Paso 4"/>
          <p:cNvSpPr/>
          <p:nvPr/>
        </p:nvSpPr>
        <p:spPr>
          <a:xfrm>
            <a:off x="8065008" y="1554480"/>
            <a:ext cx="457200" cy="457200"/>
          </a:xfrm>
          <a:prstGeom prst="ellipse">
            <a:avLst/>
          </a:prstGeom>
          <a:solidFill>
            <a:srgbClr val="0050A2"/>
          </a:solidFill>
          <a:ln/>
        </p:spPr>
      </p:sp>
      <p:sp>
        <p:nvSpPr>
          <p:cNvPr id="14" name="Número paso 4"/>
          <p:cNvSpPr txBox="1"/>
          <p:nvPr/>
        </p:nvSpPr>
        <p:spPr>
          <a:xfrm>
            <a:off x="806500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ítulo paso 4"/>
          <p:cNvSpPr txBox="1"/>
          <p:nvPr/>
        </p:nvSpPr>
        <p:spPr>
          <a:xfrm>
            <a:off x="8613648" y="146304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Prevención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Homologa · máx. 9 días háb.</a:t>
            </a:r>
            <a:endParaRPr lang="en-US" sz="1400" dirty="0"/>
          </a:p>
        </p:txBody>
      </p:sp>
      <p:sp>
        <p:nvSpPr>
          <p:cNvPr id="16" name="Paso 5"/>
          <p:cNvSpPr/>
          <p:nvPr/>
        </p:nvSpPr>
        <p:spPr>
          <a:xfrm>
            <a:off x="10158984" y="1554480"/>
            <a:ext cx="457200" cy="457200"/>
          </a:xfrm>
          <a:prstGeom prst="ellipse">
            <a:avLst/>
          </a:prstGeom>
          <a:solidFill>
            <a:srgbClr val="FFC000"/>
          </a:solidFill>
          <a:ln/>
        </p:spPr>
      </p:sp>
      <p:sp>
        <p:nvSpPr>
          <p:cNvPr id="17" name="Número paso 5"/>
          <p:cNvSpPr txBox="1"/>
          <p:nvPr/>
        </p:nvSpPr>
        <p:spPr>
          <a:xfrm>
            <a:off x="10158984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ítulo paso 5"/>
          <p:cNvSpPr txBox="1"/>
          <p:nvPr/>
        </p:nvSpPr>
        <p:spPr>
          <a:xfrm>
            <a:off x="10707624" y="1463040"/>
            <a:ext cx="932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Cierre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Aviso al solicitante</a:t>
            </a:r>
            <a:endParaRPr lang="en-US" sz="1400" dirty="0"/>
          </a:p>
        </p:txBody>
      </p:sp>
      <p:sp>
        <p:nvSpPr>
          <p:cNvPr id="19" name="Solicita"/>
          <p:cNvSpPr/>
          <p:nvPr/>
        </p:nvSpPr>
        <p:spPr>
          <a:xfrm>
            <a:off x="548640" y="2304288"/>
            <a:ext cx="1920240" cy="3895344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9525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20" name="Solicita texto"/>
          <p:cNvSpPr txBox="1"/>
          <p:nvPr/>
        </p:nvSpPr>
        <p:spPr>
          <a:xfrm>
            <a:off x="694944" y="2414016"/>
            <a:ext cx="1627632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Elige el tipo y completa el formulario.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7 tipos: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Ingreso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Traslado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Aumento de sueldo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Cambio de cargo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Cambio de turno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Renovación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Desvinculación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3A5A85"/>
                </a:solidFill>
              </a:rPr>
              <a:t>Renuncia: con carta firmada adjunta.</a:t>
            </a:r>
            <a:endParaRPr lang="en-US" sz="1200" dirty="0"/>
          </a:p>
        </p:txBody>
      </p:sp>
      <p:sp>
        <p:nvSpPr>
          <p:cNvPr id="21" name="Aprueban"/>
          <p:cNvSpPr/>
          <p:nvPr/>
        </p:nvSpPr>
        <p:spPr>
          <a:xfrm>
            <a:off x="2779776" y="2304288"/>
            <a:ext cx="2057400" cy="3895344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9525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22" name="Aprueban texto"/>
          <p:cNvSpPr txBox="1"/>
          <p:nvPr/>
        </p:nvSpPr>
        <p:spPr>
          <a:xfrm>
            <a:off x="2926080" y="2414016"/>
            <a:ext cx="1764792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50A2"/>
                </a:solidFill>
              </a:rPr>
              <a:t>Ingreso: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Adm. de obra del centro + Gerente de Operaciones.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50A2"/>
                </a:solidFill>
              </a:rPr>
              <a:t>Traslado: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Adm. de obra origen + Adm. de obra destino + Gerente de Operaciones.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50A2"/>
                </a:solidFill>
              </a:rPr>
              <a:t>Resto: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Adm. de obra del centro del trabajador.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A5A85"/>
                </a:solidFill>
              </a:rPr>
              <a:t>Se mide el tiempo de cada uno. Si uno rechaza, la solicitud queda rechazada.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Aprobada: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comprobante PDF a RRHH, solicitante y aprobadores.</a:t>
            </a:r>
            <a:endParaRPr lang="en-US" sz="1200" dirty="0"/>
          </a:p>
        </p:txBody>
      </p:sp>
      <p:sp>
        <p:nvSpPr>
          <p:cNvPr id="23" name="RRHH ingreso"/>
          <p:cNvSpPr/>
          <p:nvPr/>
        </p:nvSpPr>
        <p:spPr>
          <a:xfrm>
            <a:off x="5148072" y="2304288"/>
            <a:ext cx="2606040" cy="1591056"/>
          </a:xfrm>
          <a:prstGeom prst="roundRect">
            <a:avLst>
              <a:gd name="adj" fmla="val 4598"/>
            </a:avLst>
          </a:prstGeom>
          <a:solidFill>
            <a:schemeClr val="bg1"/>
          </a:solidFill>
          <a:ln w="9525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24" name="RRHH ingreso texto"/>
          <p:cNvSpPr txBox="1"/>
          <p:nvPr/>
        </p:nvSpPr>
        <p:spPr>
          <a:xfrm>
            <a:off x="5294376" y="2414016"/>
            <a:ext cx="23134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50A2"/>
                </a:solidFill>
              </a:rPr>
              <a:t>Ingreso · Contratación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Recomendación directa o Reclutamiento: candidatos en máx. 6 días háb. extra; el solicitante elige o rechaza.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Documentos del trabajador → Contrato de Trabajo.</a:t>
            </a:r>
            <a:endParaRPr lang="en-US" sz="1200" dirty="0"/>
          </a:p>
        </p:txBody>
      </p:sp>
      <p:sp>
        <p:nvSpPr>
          <p:cNvPr id="25" name="RRHH traslado"/>
          <p:cNvSpPr/>
          <p:nvPr/>
        </p:nvSpPr>
        <p:spPr>
          <a:xfrm>
            <a:off x="5148072" y="4023360"/>
            <a:ext cx="2606040" cy="804672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9525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26" name="RRHH traslado texto"/>
          <p:cNvSpPr txBox="1"/>
          <p:nvPr/>
        </p:nvSpPr>
        <p:spPr>
          <a:xfrm>
            <a:off x="5294376" y="4133088"/>
            <a:ext cx="23134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50A2"/>
                </a:solidFill>
              </a:rPr>
              <a:t>Traslado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Sube Contrato, Anexo de Contrato y Cédula.</a:t>
            </a:r>
            <a:endParaRPr lang="en-US" sz="1200" dirty="0"/>
          </a:p>
        </p:txBody>
      </p:sp>
      <p:sp>
        <p:nvSpPr>
          <p:cNvPr id="27" name="RRHH resto"/>
          <p:cNvSpPr/>
          <p:nvPr/>
        </p:nvSpPr>
        <p:spPr>
          <a:xfrm>
            <a:off x="5148072" y="4956048"/>
            <a:ext cx="2606040" cy="1243584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9525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28" name="RRHH resto texto"/>
          <p:cNvSpPr txBox="1"/>
          <p:nvPr/>
        </p:nvSpPr>
        <p:spPr>
          <a:xfrm>
            <a:off x="5294376" y="5065776"/>
            <a:ext cx="23134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50A2"/>
                </a:solidFill>
              </a:rPr>
              <a:t>Los otros 5 tipos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Aumento, cargo, turno, renovación y desvinculación: «Marcar como procesado».</a:t>
            </a:r>
            <a:endParaRPr lang="en-US" sz="1200" dirty="0"/>
          </a:p>
        </p:txBody>
      </p:sp>
      <p:sp>
        <p:nvSpPr>
          <p:cNvPr id="29" name="Prevención"/>
          <p:cNvSpPr/>
          <p:nvPr/>
        </p:nvSpPr>
        <p:spPr>
          <a:xfrm>
            <a:off x="8065008" y="2304288"/>
            <a:ext cx="1783080" cy="2523744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9525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30" name="Prevención texto"/>
          <p:cNvSpPr txBox="1"/>
          <p:nvPr/>
        </p:nvSpPr>
        <p:spPr>
          <a:xfrm>
            <a:off x="8211312" y="2414016"/>
            <a:ext cx="1490472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50A2"/>
                </a:solidFill>
              </a:rPr>
              <a:t>Solo ingreso y traslado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Revisa los documentos para el cliente.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Si rechaza (con motivo): avisa al solicitante y al Gerente de Prevención; a RRHH si falla un documento. Suma 3 días háb.</a:t>
            </a:r>
            <a:endParaRPr lang="en-US" sz="1200" dirty="0"/>
          </a:p>
        </p:txBody>
      </p:sp>
      <p:sp>
        <p:nvSpPr>
          <p:cNvPr id="31" name="Prevención no aplica"/>
          <p:cNvSpPr txBox="1"/>
          <p:nvPr/>
        </p:nvSpPr>
        <p:spPr>
          <a:xfrm>
            <a:off x="8065008" y="4956048"/>
            <a:ext cx="17830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No aplica</a:t>
            </a:r>
            <a:endParaRPr lang="en-US" sz="1200" dirty="0"/>
          </a:p>
        </p:txBody>
      </p:sp>
      <p:sp>
        <p:nvSpPr>
          <p:cNvPr id="32" name="Cierre ingreso y traslado"/>
          <p:cNvSpPr/>
          <p:nvPr/>
        </p:nvSpPr>
        <p:spPr>
          <a:xfrm>
            <a:off x="10158984" y="2304288"/>
            <a:ext cx="1481328" cy="2523744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9525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33" name="Cierre ingreso y traslado texto"/>
          <p:cNvSpPr txBox="1"/>
          <p:nvPr/>
        </p:nvSpPr>
        <p:spPr>
          <a:xfrm>
            <a:off x="10305288" y="2414016"/>
            <a:ext cx="118872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50A2"/>
                </a:solidFill>
              </a:rPr>
              <a:t>Ingreso a obra autorizado</a:t>
            </a:r>
            <a:endParaRPr lang="en-US" sz="1200" dirty="0"/>
          </a:p>
        </p:txBody>
      </p:sp>
      <p:sp>
        <p:nvSpPr>
          <p:cNvPr id="34" name="Cierre resto"/>
          <p:cNvSpPr/>
          <p:nvPr/>
        </p:nvSpPr>
        <p:spPr>
          <a:xfrm>
            <a:off x="10158984" y="4956048"/>
            <a:ext cx="1481328" cy="1243584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9525">
            <a:solidFill>
              <a:srgbClr val="E2EAF2"/>
            </a:solidFill>
            <a:prstDash val="solid"/>
          </a:ln>
          <a:effectLst>
            <a:outerShdw sx="100000" sy="100000" kx="0" ky="0" algn="bl" rotWithShape="0" blurRad="76200" dist="19050" dir="5400000">
              <a:srgbClr val="0B2A5B">
                <a:alpha val="10000"/>
              </a:srgbClr>
            </a:outerShdw>
          </a:effectLst>
        </p:spPr>
      </p:sp>
      <p:sp>
        <p:nvSpPr>
          <p:cNvPr id="35" name="Cierre resto texto"/>
          <p:cNvSpPr txBox="1"/>
          <p:nvPr/>
        </p:nvSpPr>
        <p:spPr>
          <a:xfrm>
            <a:off x="10305288" y="5065776"/>
            <a:ext cx="1188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50A2"/>
                </a:solidFill>
              </a:rPr>
              <a:t>Solicitud procesada</a:t>
            </a:r>
            <a:endParaRPr lang="en-US" sz="1200" dirty="0"/>
          </a:p>
        </p:txBody>
      </p:sp>
      <p:pic>
        <p:nvPicPr>
          <p:cNvPr id="36" name="Flecha 1 a 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7168" y="4114800"/>
            <a:ext cx="274320" cy="274320"/>
          </a:xfrm>
          <a:prstGeom prst="rect">
            <a:avLst/>
          </a:prstGeom>
        </p:spPr>
      </p:pic>
      <p:pic>
        <p:nvPicPr>
          <p:cNvPr id="37" name="Flecha 2 a 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464" y="4114800"/>
            <a:ext cx="274320" cy="274320"/>
          </a:xfrm>
          <a:prstGeom prst="rect">
            <a:avLst/>
          </a:prstGeom>
        </p:spPr>
      </p:pic>
      <p:pic>
        <p:nvPicPr>
          <p:cNvPr id="38" name="Flecha ingreso a 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2962656"/>
            <a:ext cx="274320" cy="274320"/>
          </a:xfrm>
          <a:prstGeom prst="rect">
            <a:avLst/>
          </a:prstGeom>
        </p:spPr>
      </p:pic>
      <p:pic>
        <p:nvPicPr>
          <p:cNvPr id="39" name="Flecha traslado a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4288536"/>
            <a:ext cx="274320" cy="274320"/>
          </a:xfrm>
          <a:prstGeom prst="rect">
            <a:avLst/>
          </a:prstGeom>
        </p:spPr>
      </p:pic>
      <p:pic>
        <p:nvPicPr>
          <p:cNvPr id="40" name="Flecha 4 a 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6376" y="3429000"/>
            <a:ext cx="274320" cy="274320"/>
          </a:xfrm>
          <a:prstGeom prst="rect">
            <a:avLst/>
          </a:prstGeom>
        </p:spPr>
      </p:pic>
      <p:pic>
        <p:nvPicPr>
          <p:cNvPr id="41" name="Flecha resto a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6376" y="5440680"/>
            <a:ext cx="27432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3A5A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talium SGC">
  <a:themeElements>
    <a:clrScheme name="Metalium SGC">
      <a:dk1>
        <a:srgbClr val="021659"/>
      </a:dk1>
      <a:lt1>
        <a:srgbClr val="FFFFFF"/>
      </a:lt1>
      <a:dk2>
        <a:srgbClr val="0050A2"/>
      </a:dk2>
      <a:lt2>
        <a:srgbClr val="F1F6FA"/>
      </a:lt2>
      <a:accent1>
        <a:srgbClr val="0A64B4"/>
      </a:accent1>
      <a:accent2>
        <a:srgbClr val="08B7F7"/>
      </a:accent2>
      <a:accent3>
        <a:srgbClr val="FFC000"/>
      </a:accent3>
      <a:accent4>
        <a:srgbClr val="D97706"/>
      </a:accent4>
      <a:accent5>
        <a:srgbClr val="C62828"/>
      </a:accent5>
      <a:accent6>
        <a:srgbClr val="3A5A85"/>
      </a:accent6>
      <a:hlink>
        <a:srgbClr val="0A64B4"/>
      </a:hlink>
      <a:folHlink>
        <a:srgbClr val="3A5A85"/>
      </a:folHlink>
    </a:clrScheme>
    <a:fontScheme name="Metalium SGC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Metalium SpA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SSI-RRHH-SST · Plazos y flujo</dc:title>
  <dc:subject>PptxGenJS Presentation</dc:subject>
  <dc:creator>Metalium SpA</dc:creator>
  <cp:lastModifiedBy>Metalium SpA</cp:lastModifiedBy>
  <cp:revision>1</cp:revision>
  <dcterms:created xsi:type="dcterms:W3CDTF">2026-10-29T13:32:32Z</dcterms:created>
  <dcterms:modified xsi:type="dcterms:W3CDTF">2026-10-29T13:32:32Z</dcterms:modified>
</cp:coreProperties>
</file>